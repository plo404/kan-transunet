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2"/>
        <p:guide pos="29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22860" y="3886200"/>
            <a:ext cx="5120640" cy="29216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7" name="组合 136"/>
          <p:cNvGrpSpPr/>
          <p:nvPr/>
        </p:nvGrpSpPr>
        <p:grpSpPr>
          <a:xfrm>
            <a:off x="1264920" y="4316095"/>
            <a:ext cx="200660" cy="1572260"/>
            <a:chOff x="1584" y="6595"/>
            <a:chExt cx="316" cy="2476"/>
          </a:xfrm>
        </p:grpSpPr>
        <p:sp>
          <p:nvSpPr>
            <p:cNvPr id="59" name="Rounded Rectangle 58"/>
            <p:cNvSpPr/>
            <p:nvPr/>
          </p:nvSpPr>
          <p:spPr>
            <a:xfrm>
              <a:off x="1584" y="6595"/>
              <a:ext cx="317" cy="31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584" y="7027"/>
              <a:ext cx="317" cy="31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584" y="7459"/>
              <a:ext cx="317" cy="317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584" y="7891"/>
              <a:ext cx="317" cy="3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1584" y="8323"/>
              <a:ext cx="317" cy="317"/>
            </a:xfrm>
            <a:prstGeom prst="roundRect">
              <a:avLst/>
            </a:prstGeom>
            <a:solidFill>
              <a:srgbClr val="2D9BC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1584" y="8755"/>
              <a:ext cx="317" cy="317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1" name="Connector 110"/>
          <p:cNvCxnSpPr>
            <a:stCxn id="26" idx="3"/>
          </p:cNvCxnSpPr>
          <p:nvPr/>
        </p:nvCxnSpPr>
        <p:spPr>
          <a:xfrm>
            <a:off x="10615930" y="2057019"/>
            <a:ext cx="292100" cy="0"/>
          </a:xfrm>
          <a:prstGeom prst="line">
            <a:avLst/>
          </a:prstGeom>
          <a:ln w="19050">
            <a:solidFill>
              <a:srgbClr val="32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87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>
            <a:endCxn id="26" idx="1"/>
          </p:cNvCxnSpPr>
          <p:nvPr/>
        </p:nvCxnSpPr>
        <p:spPr>
          <a:xfrm>
            <a:off x="9106916" y="2056510"/>
            <a:ext cx="457200" cy="0"/>
          </a:xfrm>
          <a:prstGeom prst="line">
            <a:avLst/>
          </a:prstGeom>
          <a:ln w="19050">
            <a:solidFill>
              <a:srgbClr val="32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0" y="27432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 panose="020B0604020202020204"/>
              </a:rPr>
              <a:t>Overall Architecture: KAN-TransUNet</a:t>
            </a:r>
            <a:endParaRPr sz="19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43380" y="429895"/>
            <a:ext cx="7706360" cy="3300730"/>
          </a:xfrm>
          <a:prstGeom prst="roundRect">
            <a:avLst/>
          </a:prstGeom>
          <a:solidFill>
            <a:srgbClr val="FFF8D2"/>
          </a:solidFill>
          <a:ln w="19050">
            <a:solidFill>
              <a:srgbClr val="C8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直接连接符 123"/>
          <p:cNvCxnSpPr>
            <a:stCxn id="15" idx="3"/>
          </p:cNvCxnSpPr>
          <p:nvPr/>
        </p:nvCxnSpPr>
        <p:spPr>
          <a:xfrm>
            <a:off x="5916930" y="3197860"/>
            <a:ext cx="868045" cy="37211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stCxn id="15" idx="3"/>
          </p:cNvCxnSpPr>
          <p:nvPr/>
        </p:nvCxnSpPr>
        <p:spPr>
          <a:xfrm flipV="1">
            <a:off x="5916930" y="3016250"/>
            <a:ext cx="978535" cy="181610"/>
          </a:xfrm>
          <a:prstGeom prst="lin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2" name="圆角矩形 121"/>
          <p:cNvSpPr/>
          <p:nvPr/>
        </p:nvSpPr>
        <p:spPr>
          <a:xfrm>
            <a:off x="6721475" y="2814320"/>
            <a:ext cx="2300605" cy="831215"/>
          </a:xfrm>
          <a:prstGeom prst="roundRect">
            <a:avLst/>
          </a:prstGeom>
          <a:ln w="28575" cmpd="sng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0">
            <a:srgbClr val="FFFFFF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01295" y="429895"/>
            <a:ext cx="304800" cy="3003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1" i="0">
                <a:solidFill>
                  <a:srgbClr val="282828"/>
                </a:solidFill>
                <a:latin typeface="Arial" panose="020B0604020202020204"/>
              </a:rPr>
              <a:t>A</a:t>
            </a:r>
            <a:endParaRPr sz="1600" b="1" i="0">
              <a:solidFill>
                <a:srgbClr val="282828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582" y="2596642"/>
            <a:ext cx="8686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 panose="020F0502020204030204"/>
              </a:rPr>
              <a:t>Original
Image</a:t>
            </a:r>
            <a:endParaRPr sz="1400" b="1" i="0">
              <a:solidFill>
                <a:srgbClr val="282828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23490" y="1274699"/>
            <a:ext cx="11887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2828"/>
                </a:solidFill>
                <a:latin typeface="Calibri" panose="020F0502020204030204"/>
              </a:rPr>
              <a:t>Downsample</a:t>
            </a:r>
            <a:endParaRPr sz="1200" b="1" i="0">
              <a:solidFill>
                <a:srgbClr val="282828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564370" y="1727200"/>
            <a:ext cx="1051560" cy="65836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4B2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Calibri" panose="020F0502020204030204"/>
              </a:rPr>
              <a:t>TENT</a:t>
            </a:r>
            <a:endParaRPr sz="14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400" b="1">
                <a:solidFill>
                  <a:schemeClr val="tx1"/>
                </a:solidFill>
                <a:latin typeface="Calibri" panose="020F0502020204030204"/>
              </a:rPr>
              <a:t>(Test Phase)</a:t>
            </a:r>
            <a:endParaRPr sz="1400" b="1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826115" y="2596515"/>
            <a:ext cx="136271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 panose="020F0502020204030204"/>
              </a:rPr>
              <a:t>Segmentation
Result</a:t>
            </a:r>
            <a:endParaRPr sz="1400" b="1" i="0">
              <a:solidFill>
                <a:srgbClr val="282828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5840" y="3883660"/>
            <a:ext cx="3200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chemeClr val="tx1"/>
                </a:solidFill>
                <a:latin typeface="Arial" panose="020B0604020202020204"/>
              </a:rPr>
              <a:t>KAN Layer</a:t>
            </a:r>
            <a:endParaRPr b="1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660" y="3963035"/>
            <a:ext cx="228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chemeClr val="tx1"/>
                </a:solidFill>
                <a:latin typeface="Arial" panose="020B0604020202020204"/>
              </a:rPr>
              <a:t>B</a:t>
            </a:r>
            <a:endParaRPr sz="1600" b="1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321808" y="3886200"/>
            <a:ext cx="6784848" cy="283464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87695" y="3886200"/>
            <a:ext cx="5943600" cy="3054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b="1" i="0">
                <a:solidFill>
                  <a:schemeClr val="tx1"/>
                </a:solidFill>
                <a:latin typeface="Arial" panose="020B0604020202020204"/>
              </a:rPr>
              <a:t>TENT : Test-Time Adaptation Process</a:t>
            </a:r>
            <a:endParaRPr b="1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92801" y="3917950"/>
            <a:ext cx="228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chemeClr val="tx1"/>
                </a:solidFill>
                <a:latin typeface="Arial" panose="020B0604020202020204"/>
              </a:rPr>
              <a:t>C</a:t>
            </a:r>
            <a:endParaRPr sz="1600" b="1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25780" y="4146804"/>
            <a:ext cx="265176" cy="265176"/>
          </a:xfrm>
          <a:prstGeom prst="ellipse">
            <a:avLst/>
          </a:prstGeom>
          <a:solidFill>
            <a:srgbClr val="C8C8C8"/>
          </a:solidFill>
          <a:ln w="762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25780" y="4476369"/>
            <a:ext cx="265176" cy="265176"/>
          </a:xfrm>
          <a:prstGeom prst="ellipse">
            <a:avLst/>
          </a:prstGeom>
          <a:solidFill>
            <a:srgbClr val="C8C8C8"/>
          </a:solidFill>
          <a:ln w="762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25780" y="5459349"/>
            <a:ext cx="265176" cy="265176"/>
          </a:xfrm>
          <a:prstGeom prst="ellipse">
            <a:avLst/>
          </a:prstGeom>
          <a:solidFill>
            <a:srgbClr val="C8C8C8"/>
          </a:solidFill>
          <a:ln w="762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25780" y="5792724"/>
            <a:ext cx="265176" cy="265176"/>
          </a:xfrm>
          <a:prstGeom prst="ellipse">
            <a:avLst/>
          </a:prstGeom>
          <a:solidFill>
            <a:srgbClr val="C8C8C8"/>
          </a:solidFill>
          <a:ln w="762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60" y="4956810"/>
            <a:ext cx="31051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chemeClr val="tx1"/>
                </a:solidFill>
                <a:latin typeface="Arial" panose="020B0604020202020204"/>
              </a:rPr>
              <a:t>z</a:t>
            </a:r>
            <a:endParaRPr sz="1400" b="1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29768" y="484200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Arial" panose="020B0604020202020204"/>
              </a:rPr>
              <a:t>⋮</a:t>
            </a:r>
            <a:endParaRPr sz="1600" b="0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2150872" y="4210812"/>
            <a:ext cx="265176" cy="265176"/>
          </a:xfrm>
          <a:prstGeom prst="ellipse">
            <a:avLst/>
          </a:prstGeom>
          <a:solidFill>
            <a:srgbClr val="DC5050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150872" y="4713732"/>
            <a:ext cx="265176" cy="265176"/>
          </a:xfrm>
          <a:prstGeom prst="ellipse">
            <a:avLst/>
          </a:prstGeom>
          <a:solidFill>
            <a:srgbClr val="EBB93C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150872" y="5216652"/>
            <a:ext cx="265176" cy="265176"/>
          </a:xfrm>
          <a:prstGeom prst="ellipse">
            <a:avLst/>
          </a:prstGeom>
          <a:solidFill>
            <a:srgbClr val="46AF46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150872" y="5719572"/>
            <a:ext cx="265176" cy="265176"/>
          </a:xfrm>
          <a:prstGeom prst="ellipse">
            <a:avLst/>
          </a:prstGeom>
          <a:solidFill>
            <a:srgbClr val="5596D7"/>
          </a:solidFill>
          <a:ln w="762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50745" y="4933188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Arial" panose="020B0604020202020204"/>
              </a:rPr>
              <a:t>⋮</a:t>
            </a:r>
            <a:endParaRPr sz="1600" b="0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4150360" y="4252087"/>
            <a:ext cx="265176" cy="265176"/>
          </a:xfrm>
          <a:prstGeom prst="ellipse">
            <a:avLst/>
          </a:prstGeom>
          <a:solidFill>
            <a:srgbClr val="C8C8C8"/>
          </a:solidFill>
          <a:ln w="762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50360" y="4755007"/>
            <a:ext cx="265176" cy="265176"/>
          </a:xfrm>
          <a:prstGeom prst="ellipse">
            <a:avLst/>
          </a:prstGeom>
          <a:solidFill>
            <a:srgbClr val="C8C8C8"/>
          </a:solidFill>
          <a:ln w="762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150360" y="5257927"/>
            <a:ext cx="265176" cy="265176"/>
          </a:xfrm>
          <a:prstGeom prst="ellipse">
            <a:avLst/>
          </a:prstGeom>
          <a:solidFill>
            <a:srgbClr val="C8C8C8"/>
          </a:solidFill>
          <a:ln w="762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150360" y="5760847"/>
            <a:ext cx="265176" cy="265176"/>
          </a:xfrm>
          <a:prstGeom prst="ellipse">
            <a:avLst/>
          </a:prstGeom>
          <a:solidFill>
            <a:srgbClr val="C8C8C8"/>
          </a:solidFill>
          <a:ln w="762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50233" y="5002403"/>
            <a:ext cx="27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Arial" panose="020B0604020202020204"/>
              </a:rPr>
              <a:t>⋮</a:t>
            </a:r>
            <a:endParaRPr sz="1600" b="0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424680" y="5033010"/>
            <a:ext cx="8432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chemeClr val="tx1"/>
                </a:solidFill>
                <a:latin typeface="Arial" panose="020B0604020202020204"/>
              </a:rPr>
              <a:t>KAN(z)</a:t>
            </a:r>
            <a:endParaRPr sz="1400" b="1" i="0">
              <a:solidFill>
                <a:schemeClr val="tx1"/>
              </a:solidFill>
              <a:latin typeface="Arial" panose="020B0604020202020204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01295" y="6212713"/>
            <a:ext cx="46634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tx1"/>
                </a:solidFill>
                <a:latin typeface="Calibri" panose="020F0502020204030204"/>
              </a:rPr>
              <a:t>Learnable Spline Functions φ(x) on Edges</a:t>
            </a:r>
            <a:endParaRPr sz="1400" b="1" i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532120" y="5472176"/>
            <a:ext cx="9601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tx1"/>
                </a:solidFill>
                <a:latin typeface="Calibri" panose="020F0502020204030204"/>
              </a:rPr>
              <a:t>Unlabeled
Image</a:t>
            </a:r>
            <a:endParaRPr sz="1400" b="1" i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6720840" y="4251960"/>
            <a:ext cx="2514600" cy="1600200"/>
          </a:xfrm>
          <a:prstGeom prst="roundRect">
            <a:avLst/>
          </a:prstGeom>
          <a:solidFill>
            <a:srgbClr val="EBE1D2"/>
          </a:solidFill>
          <a:ln w="12700">
            <a:solidFill>
              <a:srgbClr val="A59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720840" y="4288536"/>
            <a:ext cx="2514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82828"/>
                </a:solidFill>
                <a:latin typeface="Calibri" panose="020F0502020204030204"/>
              </a:rPr>
              <a:t>Pre-trained Model</a:t>
            </a:r>
            <a:endParaRPr sz="1400" b="1" i="0">
              <a:solidFill>
                <a:srgbClr val="282828"/>
              </a:solidFill>
              <a:latin typeface="Calibri" panose="020F0502020204030204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6858000" y="4572000"/>
            <a:ext cx="2240280" cy="484632"/>
          </a:xfrm>
          <a:prstGeom prst="round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chemeClr val="tx1"/>
                </a:solidFill>
                <a:latin typeface="Calibri" panose="020F0502020204030204"/>
              </a:rPr>
              <a:t>Conv Layers</a:t>
            </a:r>
            <a:endParaRPr sz="1400" b="1">
              <a:solidFill>
                <a:schemeClr val="tx1"/>
              </a:solidFill>
              <a:latin typeface="Calibri" panose="020F0502020204030204"/>
            </a:endParaRPr>
          </a:p>
          <a:p>
            <a:pPr algn="ctr"/>
            <a:r>
              <a:rPr sz="1400" b="1">
                <a:solidFill>
                  <a:schemeClr val="tx1"/>
                </a:solidFill>
                <a:latin typeface="Calibri" panose="020F0502020204030204"/>
              </a:rPr>
              <a:t>(Frozen) 🔒</a:t>
            </a:r>
            <a:endParaRPr sz="1400" b="1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86" name="Rounded Rectangle 85"/>
          <p:cNvSpPr/>
          <p:nvPr/>
        </p:nvSpPr>
        <p:spPr>
          <a:xfrm>
            <a:off x="6858000" y="5148072"/>
            <a:ext cx="2240280" cy="484632"/>
          </a:xfrm>
          <a:prstGeom prst="roundRect">
            <a:avLst/>
          </a:prstGeom>
          <a:solidFill>
            <a:srgbClr val="E1C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82828"/>
                </a:solidFill>
                <a:latin typeface="Calibri" panose="020F0502020204030204"/>
              </a:rPr>
              <a:t>Norm Layers</a:t>
            </a:r>
            <a:endParaRPr sz="1400" b="1">
              <a:solidFill>
                <a:srgbClr val="282828"/>
              </a:solidFill>
              <a:latin typeface="Calibri" panose="020F0502020204030204"/>
            </a:endParaRPr>
          </a:p>
          <a:p>
            <a:pPr algn="ctr"/>
            <a:r>
              <a:rPr sz="1400" b="1">
                <a:solidFill>
                  <a:srgbClr val="282828"/>
                </a:solidFill>
                <a:latin typeface="Calibri" panose="020F0502020204030204"/>
              </a:rPr>
              <a:t>(Trainable) 🔄</a:t>
            </a:r>
            <a:endParaRPr sz="1400" b="1">
              <a:solidFill>
                <a:srgbClr val="282828"/>
              </a:solidFill>
              <a:latin typeface="Calibri" panose="020F0502020204030204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9528048" y="4370832"/>
            <a:ext cx="1078992" cy="475488"/>
          </a:xfrm>
          <a:prstGeom prst="roundRect">
            <a:avLst/>
          </a:prstGeom>
          <a:solidFill>
            <a:srgbClr val="F0A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82828"/>
                </a:solidFill>
                <a:latin typeface="Calibri" panose="020F0502020204030204"/>
              </a:rPr>
              <a:t>Prediction</a:t>
            </a:r>
            <a:endParaRPr sz="1400" b="1">
              <a:solidFill>
                <a:srgbClr val="282828"/>
              </a:solidFill>
              <a:latin typeface="Calibri" panose="020F0502020204030204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9528048" y="5074920"/>
            <a:ext cx="1078992" cy="475488"/>
          </a:xfrm>
          <a:prstGeom prst="roundRect">
            <a:avLst/>
          </a:prstGeom>
          <a:solidFill>
            <a:srgbClr val="F0A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82828"/>
                </a:solidFill>
                <a:latin typeface="Calibri" panose="020F0502020204030204"/>
              </a:rPr>
              <a:t>Entropy</a:t>
            </a:r>
            <a:endParaRPr sz="1400" b="1">
              <a:solidFill>
                <a:srgbClr val="282828"/>
              </a:solidFill>
              <a:latin typeface="Calibri" panose="020F0502020204030204"/>
            </a:endParaRPr>
          </a:p>
          <a:p>
            <a:pPr algn="ctr"/>
            <a:r>
              <a:rPr sz="1400" b="1">
                <a:solidFill>
                  <a:srgbClr val="282828"/>
                </a:solidFill>
                <a:latin typeface="Calibri" panose="020F0502020204030204"/>
              </a:rPr>
              <a:t>Loss</a:t>
            </a:r>
            <a:endParaRPr sz="1400" b="1">
              <a:solidFill>
                <a:srgbClr val="282828"/>
              </a:solidFill>
              <a:latin typeface="Calibri" panose="020F0502020204030204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11072114" y="5509514"/>
            <a:ext cx="914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tx1"/>
                </a:solidFill>
                <a:latin typeface="Calibri" panose="020F0502020204030204"/>
              </a:rPr>
              <a:t>Robust Mask</a:t>
            </a:r>
            <a:endParaRPr sz="1400" b="1" i="0">
              <a:solidFill>
                <a:schemeClr val="tx1"/>
              </a:solidFill>
              <a:latin typeface="Calibri" panose="020F0502020204030204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7081520" y="6108065"/>
            <a:ext cx="1783080" cy="411480"/>
          </a:xfrm>
          <a:prstGeom prst="roundRect">
            <a:avLst/>
          </a:prstGeom>
          <a:solidFill>
            <a:srgbClr val="F0A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282828"/>
                </a:solidFill>
                <a:latin typeface="Calibri" panose="020F0502020204030204"/>
              </a:rPr>
              <a:t>Update</a:t>
            </a:r>
            <a:endParaRPr sz="1400" b="1">
              <a:solidFill>
                <a:srgbClr val="282828"/>
              </a:solidFill>
              <a:latin typeface="Calibri" panose="020F0502020204030204"/>
            </a:endParaRPr>
          </a:p>
          <a:p>
            <a:pPr algn="ctr"/>
            <a:r>
              <a:rPr sz="1400" b="1">
                <a:solidFill>
                  <a:srgbClr val="282828"/>
                </a:solidFill>
                <a:latin typeface="Calibri" panose="020F0502020204030204"/>
              </a:rPr>
              <a:t>Norm Params</a:t>
            </a:r>
            <a:endParaRPr sz="1400" b="1">
              <a:solidFill>
                <a:srgbClr val="282828"/>
              </a:solidFill>
              <a:latin typeface="Calibri" panose="020F0502020204030204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564370" y="5948045"/>
            <a:ext cx="9423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tx1"/>
                </a:solidFill>
                <a:latin typeface="Calibri" panose="020F0502020204030204"/>
              </a:rPr>
              <a:t>Gradient
Update</a:t>
            </a:r>
            <a:endParaRPr sz="1400" b="1" i="0">
              <a:solidFill>
                <a:schemeClr val="tx1"/>
              </a:solidFill>
              <a:latin typeface="Calibri" panose="020F0502020204030204"/>
            </a:endParaRPr>
          </a:p>
        </p:txBody>
      </p:sp>
      <p:cxnSp>
        <p:nvCxnSpPr>
          <p:cNvPr id="97" name="Connector 96"/>
          <p:cNvCxnSpPr>
            <a:stCxn id="125" idx="3"/>
          </p:cNvCxnSpPr>
          <p:nvPr/>
        </p:nvCxnSpPr>
        <p:spPr>
          <a:xfrm>
            <a:off x="1349502" y="1999615"/>
            <a:ext cx="294005" cy="0"/>
          </a:xfrm>
          <a:prstGeom prst="line">
            <a:avLst/>
          </a:prstGeom>
          <a:ln w="19050">
            <a:solidFill>
              <a:srgbClr val="3232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/>
          <p:cNvGrpSpPr/>
          <p:nvPr/>
        </p:nvGrpSpPr>
        <p:grpSpPr>
          <a:xfrm>
            <a:off x="1929765" y="457200"/>
            <a:ext cx="7133601" cy="3187673"/>
            <a:chOff x="3039" y="720"/>
            <a:chExt cx="10921" cy="5020"/>
          </a:xfrm>
        </p:grpSpPr>
        <p:sp>
          <p:nvSpPr>
            <p:cNvPr id="6" name="TextBox 5"/>
            <p:cNvSpPr txBox="1"/>
            <p:nvPr/>
          </p:nvSpPr>
          <p:spPr>
            <a:xfrm>
              <a:off x="6264" y="720"/>
              <a:ext cx="4320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>
                  <a:solidFill>
                    <a:srgbClr val="282828"/>
                  </a:solidFill>
                  <a:latin typeface="Arial" panose="020B0604020202020204"/>
                </a:rPr>
                <a:t>KAN-TransUnet</a:t>
              </a:r>
              <a:endParaRPr b="1" i="0">
                <a:solidFill>
                  <a:srgbClr val="282828"/>
                </a:solidFill>
                <a:latin typeface="Arial" panose="020B0604020202020204"/>
              </a:endParaRPr>
            </a:p>
          </p:txBody>
        </p:sp>
        <p:grpSp>
          <p:nvGrpSpPr>
            <p:cNvPr id="119" name="组合 118"/>
            <p:cNvGrpSpPr/>
            <p:nvPr/>
          </p:nvGrpSpPr>
          <p:grpSpPr>
            <a:xfrm>
              <a:off x="3039" y="1150"/>
              <a:ext cx="10921" cy="4590"/>
              <a:chOff x="2232" y="785"/>
              <a:chExt cx="7736" cy="3910"/>
            </a:xfrm>
          </p:grpSpPr>
          <p:cxnSp>
            <p:nvCxnSpPr>
              <p:cNvPr id="100" name="Connector 99"/>
              <p:cNvCxnSpPr>
                <a:stCxn id="14" idx="2"/>
              </p:cNvCxnSpPr>
              <p:nvPr/>
            </p:nvCxnSpPr>
            <p:spPr>
              <a:xfrm>
                <a:off x="2894" y="3225"/>
                <a:ext cx="2456" cy="535"/>
              </a:xfrm>
              <a:prstGeom prst="line">
                <a:avLst/>
              </a:prstGeom>
              <a:ln w="19050">
                <a:solidFill>
                  <a:srgbClr val="323232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/>
              <p:cNvSpPr txBox="1"/>
              <p:nvPr/>
            </p:nvSpPr>
            <p:spPr>
              <a:xfrm>
                <a:off x="3925" y="785"/>
                <a:ext cx="4320" cy="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200" b="1" i="0">
                    <a:solidFill>
                      <a:srgbClr val="282828"/>
                    </a:solidFill>
                    <a:latin typeface="Arial" panose="020B0604020202020204"/>
                  </a:rPr>
                  <a:t>(Training Phase)</a:t>
                </a:r>
                <a:endParaRPr sz="1200" b="1" i="0">
                  <a:solidFill>
                    <a:srgbClr val="282828"/>
                  </a:solidFill>
                  <a:latin typeface="Arial" panose="020B0604020202020204"/>
                </a:endParaRPr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2232" y="1008"/>
                <a:ext cx="1325" cy="547"/>
              </a:xfrm>
              <a:prstGeom prst="roundRect">
                <a:avLst/>
              </a:prstGeom>
              <a:solidFill>
                <a:srgbClr val="4169B9"/>
              </a:solidFill>
              <a:ln w="10160">
                <a:solidFill>
                  <a:srgbClr val="2A52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Conv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Block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232" y="1843"/>
                <a:ext cx="1325" cy="547"/>
              </a:xfrm>
              <a:prstGeom prst="roundRect">
                <a:avLst/>
              </a:prstGeom>
              <a:solidFill>
                <a:srgbClr val="4169B9"/>
              </a:solidFill>
              <a:ln w="10160">
                <a:solidFill>
                  <a:srgbClr val="2A52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Conv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Block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2232" y="2678"/>
                <a:ext cx="1325" cy="547"/>
              </a:xfrm>
              <a:prstGeom prst="roundRect">
                <a:avLst/>
              </a:prstGeom>
              <a:solidFill>
                <a:srgbClr val="4169B9"/>
              </a:solidFill>
              <a:ln w="10160">
                <a:solidFill>
                  <a:srgbClr val="2A52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Conv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Block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8381" y="1008"/>
                <a:ext cx="1325" cy="547"/>
              </a:xfrm>
              <a:prstGeom prst="roundRect">
                <a:avLst/>
              </a:prstGeom>
              <a:solidFill>
                <a:srgbClr val="4169B9"/>
              </a:solidFill>
              <a:ln w="10160">
                <a:solidFill>
                  <a:srgbClr val="2A52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Conv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Block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8381" y="1843"/>
                <a:ext cx="1325" cy="547"/>
              </a:xfrm>
              <a:prstGeom prst="roundRect">
                <a:avLst/>
              </a:prstGeom>
              <a:solidFill>
                <a:srgbClr val="4169B9"/>
              </a:solidFill>
              <a:ln w="10160">
                <a:solidFill>
                  <a:srgbClr val="2A52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Conv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Block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8381" y="2678"/>
                <a:ext cx="1325" cy="547"/>
              </a:xfrm>
              <a:prstGeom prst="roundRect">
                <a:avLst/>
              </a:prstGeom>
              <a:solidFill>
                <a:srgbClr val="4169B9"/>
              </a:solidFill>
              <a:ln w="10160">
                <a:solidFill>
                  <a:srgbClr val="2A529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Conv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Block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7622" y="3674"/>
                <a:ext cx="852" cy="547"/>
              </a:xfrm>
              <a:prstGeom prst="roundRect">
                <a:avLst/>
              </a:prstGeom>
              <a:solidFill>
                <a:srgbClr val="A0C8E1"/>
              </a:solidFill>
              <a:ln w="10160">
                <a:solidFill>
                  <a:srgbClr val="649BB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200" b="1">
                    <a:solidFill>
                      <a:srgbClr val="282828"/>
                    </a:solidFill>
                    <a:latin typeface="Calibri" panose="020F0502020204030204"/>
                  </a:rPr>
                  <a:t>Norm</a:t>
                </a:r>
                <a:endParaRPr sz="1200" b="1">
                  <a:solidFill>
                    <a:srgbClr val="282828"/>
                  </a:solidFill>
                  <a:latin typeface="Calibri" panose="020F0502020204030204"/>
                </a:endParaRPr>
              </a:p>
              <a:p>
                <a:pPr algn="ctr"/>
                <a:r>
                  <a:rPr sz="1200" b="1">
                    <a:solidFill>
                      <a:srgbClr val="282828"/>
                    </a:solidFill>
                    <a:latin typeface="Calibri" panose="020F0502020204030204"/>
                  </a:rPr>
                  <a:t>Layer</a:t>
                </a:r>
                <a:endParaRPr sz="1200" b="1">
                  <a:solidFill>
                    <a:srgbClr val="282828"/>
                  </a:solidFill>
                  <a:latin typeface="Calibri" panose="020F0502020204030204"/>
                </a:endParaRPr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8962" y="3674"/>
                <a:ext cx="784" cy="547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0160">
                <a:solidFill>
                  <a:srgbClr val="3778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200" b="1">
                    <a:solidFill>
                      <a:schemeClr val="tx1"/>
                    </a:solidFill>
                    <a:latin typeface="Calibri" panose="020F0502020204030204"/>
                  </a:rPr>
                  <a:t>KAN</a:t>
                </a:r>
                <a:endParaRPr sz="1200" b="1">
                  <a:solidFill>
                    <a:schemeClr val="tx1"/>
                  </a:solidFill>
                  <a:latin typeface="Calibri" panose="020F0502020204030204"/>
                </a:endParaRPr>
              </a:p>
              <a:p>
                <a:pPr algn="ctr"/>
                <a:r>
                  <a:rPr sz="1200" b="1">
                    <a:solidFill>
                      <a:schemeClr val="tx1"/>
                    </a:solidFill>
                    <a:latin typeface="Calibri" panose="020F0502020204030204"/>
                  </a:rPr>
                  <a:t>Layer</a:t>
                </a:r>
                <a:endParaRPr sz="1200" b="1">
                  <a:solidFill>
                    <a:schemeClr val="tx1"/>
                  </a:solidFill>
                  <a:latin typeface="Calibri" panose="020F0502020204030204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7577" y="4167"/>
                <a:ext cx="2220" cy="528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ctr"/>
                <a:r>
                  <a:rPr sz="1200" b="1" i="0">
                    <a:solidFill>
                      <a:srgbClr val="282828"/>
                    </a:solidFill>
                    <a:latin typeface="Calibri" panose="020F0502020204030204"/>
                  </a:rPr>
                  <a:t>Zoom-in: Single
Transformer Layer</a:t>
                </a:r>
                <a:endParaRPr sz="1200" b="1" i="0">
                  <a:solidFill>
                    <a:srgbClr val="282828"/>
                  </a:solidFill>
                  <a:latin typeface="Calibri" panose="020F0502020204030204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248" y="1742"/>
                <a:ext cx="3024" cy="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400" b="1" i="0">
                    <a:solidFill>
                      <a:srgbClr val="282828"/>
                    </a:solidFill>
                    <a:latin typeface="Calibri" panose="020F0502020204030204"/>
                  </a:rPr>
                  <a:t>Skip Connections</a:t>
                </a:r>
                <a:endParaRPr sz="1400" b="1" i="0">
                  <a:solidFill>
                    <a:srgbClr val="282828"/>
                  </a:solidFill>
                  <a:latin typeface="Calibri" panose="020F0502020204030204"/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8978" y="1515"/>
                <a:ext cx="990" cy="3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sz="1200" b="1" i="0">
                    <a:solidFill>
                      <a:srgbClr val="282828"/>
                    </a:solidFill>
                    <a:latin typeface="Calibri" panose="020F0502020204030204"/>
                  </a:rPr>
                  <a:t>Upsample</a:t>
                </a:r>
                <a:endParaRPr sz="1200" b="1" i="0">
                  <a:solidFill>
                    <a:srgbClr val="282828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98" name="Connector 97"/>
              <p:cNvCxnSpPr/>
              <p:nvPr/>
            </p:nvCxnSpPr>
            <p:spPr>
              <a:xfrm>
                <a:off x="2894" y="1555"/>
                <a:ext cx="0" cy="288"/>
              </a:xfrm>
              <a:prstGeom prst="line">
                <a:avLst/>
              </a:prstGeom>
              <a:ln w="19050">
                <a:solidFill>
                  <a:srgbClr val="323232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nector 98"/>
              <p:cNvCxnSpPr/>
              <p:nvPr/>
            </p:nvCxnSpPr>
            <p:spPr>
              <a:xfrm>
                <a:off x="2894" y="2390"/>
                <a:ext cx="0" cy="288"/>
              </a:xfrm>
              <a:prstGeom prst="line">
                <a:avLst/>
              </a:prstGeom>
              <a:ln w="19050">
                <a:solidFill>
                  <a:srgbClr val="323232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Connector 102"/>
              <p:cNvCxnSpPr/>
              <p:nvPr/>
            </p:nvCxnSpPr>
            <p:spPr>
              <a:xfrm flipV="1">
                <a:off x="9043" y="2390"/>
                <a:ext cx="0" cy="288"/>
              </a:xfrm>
              <a:prstGeom prst="line">
                <a:avLst/>
              </a:prstGeom>
              <a:ln w="19050">
                <a:solidFill>
                  <a:srgbClr val="323232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nector 103"/>
              <p:cNvCxnSpPr/>
              <p:nvPr/>
            </p:nvCxnSpPr>
            <p:spPr>
              <a:xfrm flipV="1">
                <a:off x="9043" y="1555"/>
                <a:ext cx="0" cy="288"/>
              </a:xfrm>
              <a:prstGeom prst="line">
                <a:avLst/>
              </a:prstGeom>
              <a:ln w="19050">
                <a:solidFill>
                  <a:srgbClr val="323232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nector 104"/>
              <p:cNvCxnSpPr/>
              <p:nvPr/>
            </p:nvCxnSpPr>
            <p:spPr>
              <a:xfrm>
                <a:off x="3557" y="1282"/>
                <a:ext cx="4824" cy="0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nector 105"/>
              <p:cNvCxnSpPr/>
              <p:nvPr/>
            </p:nvCxnSpPr>
            <p:spPr>
              <a:xfrm>
                <a:off x="3557" y="2117"/>
                <a:ext cx="4824" cy="0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nector 106"/>
              <p:cNvCxnSpPr/>
              <p:nvPr/>
            </p:nvCxnSpPr>
            <p:spPr>
              <a:xfrm>
                <a:off x="3557" y="3006"/>
                <a:ext cx="4824" cy="0"/>
              </a:xfrm>
              <a:prstGeom prst="line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Connector 108"/>
              <p:cNvCxnSpPr>
                <a:stCxn id="20" idx="3"/>
              </p:cNvCxnSpPr>
              <p:nvPr/>
            </p:nvCxnSpPr>
            <p:spPr>
              <a:xfrm>
                <a:off x="8473" y="3947"/>
                <a:ext cx="489" cy="1"/>
              </a:xfrm>
              <a:prstGeom prst="line">
                <a:avLst/>
              </a:prstGeom>
              <a:ln w="19050">
                <a:solidFill>
                  <a:srgbClr val="323232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nector 107"/>
              <p:cNvCxnSpPr>
                <a:endCxn id="19" idx="2"/>
              </p:cNvCxnSpPr>
              <p:nvPr/>
            </p:nvCxnSpPr>
            <p:spPr>
              <a:xfrm flipV="1">
                <a:off x="6424" y="3225"/>
                <a:ext cx="2619" cy="535"/>
              </a:xfrm>
              <a:prstGeom prst="line">
                <a:avLst/>
              </a:prstGeom>
              <a:ln w="19050">
                <a:solidFill>
                  <a:srgbClr val="323232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ounded Rectangle 14"/>
              <p:cNvSpPr/>
              <p:nvPr/>
            </p:nvSpPr>
            <p:spPr>
              <a:xfrm>
                <a:off x="5231" y="3596"/>
                <a:ext cx="1325" cy="998"/>
              </a:xfrm>
              <a:prstGeom prst="roundRect">
                <a:avLst/>
              </a:prstGeom>
              <a:solidFill>
                <a:srgbClr val="50823C"/>
              </a:solidFill>
              <a:ln w="10160">
                <a:solidFill>
                  <a:srgbClr val="37642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Transformer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  <a:p>
                <a:pPr algn="ctr"/>
                <a:r>
                  <a:rPr sz="1400" b="1">
                    <a:solidFill>
                      <a:srgbClr val="FFFFFF"/>
                    </a:solidFill>
                    <a:latin typeface="Calibri" panose="020F0502020204030204"/>
                  </a:rPr>
                  <a:t>Layer</a:t>
                </a:r>
                <a:endParaRPr sz="1400" b="1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112" name="Connector 111"/>
          <p:cNvCxnSpPr/>
          <p:nvPr/>
        </p:nvCxnSpPr>
        <p:spPr>
          <a:xfrm>
            <a:off x="6446520" y="4809744"/>
            <a:ext cx="274955" cy="0"/>
          </a:xfrm>
          <a:prstGeom prst="line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235440" y="4608703"/>
            <a:ext cx="292735" cy="0"/>
          </a:xfrm>
          <a:prstGeom prst="line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10599420" y="4608830"/>
            <a:ext cx="226695" cy="0"/>
          </a:xfrm>
          <a:prstGeom prst="line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10067544" y="4846320"/>
            <a:ext cx="0" cy="228600"/>
          </a:xfrm>
          <a:prstGeom prst="line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>
            <a:endCxn id="95" idx="3"/>
          </p:cNvCxnSpPr>
          <p:nvPr/>
        </p:nvCxnSpPr>
        <p:spPr>
          <a:xfrm flipH="1">
            <a:off x="8864600" y="5578094"/>
            <a:ext cx="1202690" cy="735965"/>
          </a:xfrm>
          <a:prstGeom prst="line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>
            <a:stCxn id="95" idx="0"/>
          </p:cNvCxnSpPr>
          <p:nvPr/>
        </p:nvCxnSpPr>
        <p:spPr>
          <a:xfrm flipV="1">
            <a:off x="7972933" y="5852160"/>
            <a:ext cx="0" cy="255905"/>
          </a:xfrm>
          <a:prstGeom prst="line">
            <a:avLst/>
          </a:prstGeom>
          <a:ln w="1905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5" name="图片 124" descr="dirve_ori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5" y="1402715"/>
            <a:ext cx="1193800" cy="1193800"/>
          </a:xfrm>
          <a:prstGeom prst="rect">
            <a:avLst/>
          </a:prstGeom>
        </p:spPr>
      </p:pic>
      <p:pic>
        <p:nvPicPr>
          <p:cNvPr id="126" name="图片 125" descr="drive_g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840" y="1443355"/>
            <a:ext cx="1195200" cy="1195200"/>
          </a:xfrm>
          <a:prstGeom prst="rect">
            <a:avLst/>
          </a:prstGeom>
        </p:spPr>
      </p:pic>
      <p:pic>
        <p:nvPicPr>
          <p:cNvPr id="128" name="图片 127" descr="octa3m_gt"/>
          <p:cNvPicPr/>
          <p:nvPr/>
        </p:nvPicPr>
        <p:blipFill>
          <a:blip r:embed="rId3"/>
          <a:stretch>
            <a:fillRect/>
          </a:stretch>
        </p:blipFill>
        <p:spPr>
          <a:xfrm>
            <a:off x="10826115" y="4250055"/>
            <a:ext cx="1195200" cy="1195200"/>
          </a:xfrm>
          <a:prstGeom prst="rect">
            <a:avLst/>
          </a:prstGeom>
        </p:spPr>
      </p:pic>
      <p:pic>
        <p:nvPicPr>
          <p:cNvPr id="134" name="图片 133" descr="octa3m_ori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260" y="4237990"/>
            <a:ext cx="1195200" cy="1195200"/>
          </a:xfrm>
          <a:prstGeom prst="rect">
            <a:avLst/>
          </a:prstGeom>
        </p:spPr>
      </p:pic>
      <p:cxnSp>
        <p:nvCxnSpPr>
          <p:cNvPr id="138" name="直接连接符 137"/>
          <p:cNvCxnSpPr>
            <a:stCxn id="39" idx="6"/>
            <a:endCxn id="60" idx="1"/>
          </p:cNvCxnSpPr>
          <p:nvPr/>
        </p:nvCxnSpPr>
        <p:spPr>
          <a:xfrm>
            <a:off x="791210" y="4279265"/>
            <a:ext cx="473710" cy="1371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>
            <a:endCxn id="62" idx="1"/>
          </p:cNvCxnSpPr>
          <p:nvPr/>
        </p:nvCxnSpPr>
        <p:spPr>
          <a:xfrm>
            <a:off x="791210" y="4279265"/>
            <a:ext cx="473710" cy="4114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>
            <a:endCxn id="64" idx="1"/>
          </p:cNvCxnSpPr>
          <p:nvPr/>
        </p:nvCxnSpPr>
        <p:spPr>
          <a:xfrm>
            <a:off x="794385" y="4289425"/>
            <a:ext cx="473710" cy="67627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>
            <a:endCxn id="66" idx="1"/>
          </p:cNvCxnSpPr>
          <p:nvPr/>
        </p:nvCxnSpPr>
        <p:spPr>
          <a:xfrm>
            <a:off x="791210" y="4279265"/>
            <a:ext cx="473710" cy="9601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/>
          <p:cNvCxnSpPr>
            <a:stCxn id="39" idx="6"/>
            <a:endCxn id="68" idx="1"/>
          </p:cNvCxnSpPr>
          <p:nvPr/>
        </p:nvCxnSpPr>
        <p:spPr>
          <a:xfrm>
            <a:off x="791210" y="4279265"/>
            <a:ext cx="473710" cy="123444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>
            <a:endCxn id="70" idx="1"/>
          </p:cNvCxnSpPr>
          <p:nvPr/>
        </p:nvCxnSpPr>
        <p:spPr>
          <a:xfrm>
            <a:off x="791210" y="4279265"/>
            <a:ext cx="473710" cy="15087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/>
          <p:cNvCxnSpPr>
            <a:stCxn id="40" idx="6"/>
            <a:endCxn id="60" idx="1"/>
          </p:cNvCxnSpPr>
          <p:nvPr/>
        </p:nvCxnSpPr>
        <p:spPr>
          <a:xfrm flipV="1">
            <a:off x="791210" y="4416425"/>
            <a:ext cx="473710" cy="19240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/>
          <p:cNvCxnSpPr>
            <a:endCxn id="62" idx="1"/>
          </p:cNvCxnSpPr>
          <p:nvPr/>
        </p:nvCxnSpPr>
        <p:spPr>
          <a:xfrm>
            <a:off x="791210" y="4608830"/>
            <a:ext cx="473710" cy="8191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/>
          <p:cNvCxnSpPr>
            <a:endCxn id="64" idx="1"/>
          </p:cNvCxnSpPr>
          <p:nvPr/>
        </p:nvCxnSpPr>
        <p:spPr>
          <a:xfrm>
            <a:off x="794385" y="4609465"/>
            <a:ext cx="473710" cy="35623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>
            <a:stCxn id="40" idx="6"/>
            <a:endCxn id="66" idx="1"/>
          </p:cNvCxnSpPr>
          <p:nvPr/>
        </p:nvCxnSpPr>
        <p:spPr>
          <a:xfrm>
            <a:off x="791210" y="4608830"/>
            <a:ext cx="473710" cy="63055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/>
          <p:cNvCxnSpPr>
            <a:stCxn id="40" idx="6"/>
            <a:endCxn id="68" idx="1"/>
          </p:cNvCxnSpPr>
          <p:nvPr/>
        </p:nvCxnSpPr>
        <p:spPr>
          <a:xfrm>
            <a:off x="791210" y="4608830"/>
            <a:ext cx="473710" cy="90487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>
            <a:stCxn id="40" idx="6"/>
            <a:endCxn id="70" idx="1"/>
          </p:cNvCxnSpPr>
          <p:nvPr/>
        </p:nvCxnSpPr>
        <p:spPr>
          <a:xfrm>
            <a:off x="791210" y="4608830"/>
            <a:ext cx="473710" cy="117919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/>
          <p:cNvCxnSpPr>
            <a:stCxn id="44" idx="6"/>
            <a:endCxn id="60" idx="1"/>
          </p:cNvCxnSpPr>
          <p:nvPr/>
        </p:nvCxnSpPr>
        <p:spPr>
          <a:xfrm flipV="1">
            <a:off x="791210" y="4416425"/>
            <a:ext cx="473710" cy="117538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>
            <a:stCxn id="44" idx="6"/>
            <a:endCxn id="62" idx="1"/>
          </p:cNvCxnSpPr>
          <p:nvPr/>
        </p:nvCxnSpPr>
        <p:spPr>
          <a:xfrm flipV="1">
            <a:off x="791210" y="4690745"/>
            <a:ext cx="473710" cy="90106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/>
          <p:cNvCxnSpPr>
            <a:stCxn id="44" idx="6"/>
            <a:endCxn id="64" idx="1"/>
          </p:cNvCxnSpPr>
          <p:nvPr/>
        </p:nvCxnSpPr>
        <p:spPr>
          <a:xfrm flipV="1">
            <a:off x="791210" y="4965700"/>
            <a:ext cx="476885" cy="62611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/>
          <p:cNvCxnSpPr>
            <a:stCxn id="44" idx="6"/>
            <a:endCxn id="66" idx="1"/>
          </p:cNvCxnSpPr>
          <p:nvPr/>
        </p:nvCxnSpPr>
        <p:spPr>
          <a:xfrm flipV="1">
            <a:off x="791210" y="5239385"/>
            <a:ext cx="473710" cy="35242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/>
          <p:cNvCxnSpPr>
            <a:stCxn id="44" idx="6"/>
            <a:endCxn id="68" idx="1"/>
          </p:cNvCxnSpPr>
          <p:nvPr/>
        </p:nvCxnSpPr>
        <p:spPr>
          <a:xfrm flipV="1">
            <a:off x="791210" y="5513705"/>
            <a:ext cx="473710" cy="7810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/>
          <p:cNvCxnSpPr>
            <a:stCxn id="44" idx="6"/>
            <a:endCxn id="70" idx="1"/>
          </p:cNvCxnSpPr>
          <p:nvPr/>
        </p:nvCxnSpPr>
        <p:spPr>
          <a:xfrm>
            <a:off x="791210" y="5591810"/>
            <a:ext cx="473710" cy="19621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>
            <a:stCxn id="45" idx="6"/>
            <a:endCxn id="70" idx="1"/>
          </p:cNvCxnSpPr>
          <p:nvPr/>
        </p:nvCxnSpPr>
        <p:spPr>
          <a:xfrm flipV="1">
            <a:off x="791210" y="5788025"/>
            <a:ext cx="473710" cy="1371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>
            <a:stCxn id="45" idx="6"/>
            <a:endCxn id="68" idx="1"/>
          </p:cNvCxnSpPr>
          <p:nvPr/>
        </p:nvCxnSpPr>
        <p:spPr>
          <a:xfrm flipV="1">
            <a:off x="791210" y="5513705"/>
            <a:ext cx="473710" cy="4114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>
            <a:stCxn id="45" idx="6"/>
          </p:cNvCxnSpPr>
          <p:nvPr/>
        </p:nvCxnSpPr>
        <p:spPr>
          <a:xfrm flipV="1">
            <a:off x="791210" y="5239385"/>
            <a:ext cx="473710" cy="68580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>
            <a:stCxn id="45" idx="6"/>
            <a:endCxn id="64" idx="1"/>
          </p:cNvCxnSpPr>
          <p:nvPr/>
        </p:nvCxnSpPr>
        <p:spPr>
          <a:xfrm flipV="1">
            <a:off x="791210" y="4965700"/>
            <a:ext cx="476885" cy="95948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/>
          <p:cNvCxnSpPr>
            <a:stCxn id="45" idx="6"/>
            <a:endCxn id="62" idx="1"/>
          </p:cNvCxnSpPr>
          <p:nvPr/>
        </p:nvCxnSpPr>
        <p:spPr>
          <a:xfrm flipV="1">
            <a:off x="791210" y="4690745"/>
            <a:ext cx="473710" cy="123444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/>
          <p:cNvCxnSpPr>
            <a:stCxn id="45" idx="6"/>
          </p:cNvCxnSpPr>
          <p:nvPr/>
        </p:nvCxnSpPr>
        <p:spPr>
          <a:xfrm flipV="1">
            <a:off x="791210" y="4411980"/>
            <a:ext cx="473710" cy="151320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>
            <a:stCxn id="59" idx="3"/>
            <a:endCxn id="48" idx="2"/>
          </p:cNvCxnSpPr>
          <p:nvPr/>
        </p:nvCxnSpPr>
        <p:spPr>
          <a:xfrm flipV="1">
            <a:off x="1466215" y="4343400"/>
            <a:ext cx="684530" cy="736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/>
          <p:cNvCxnSpPr>
            <a:endCxn id="49" idx="2"/>
          </p:cNvCxnSpPr>
          <p:nvPr/>
        </p:nvCxnSpPr>
        <p:spPr>
          <a:xfrm>
            <a:off x="1466215" y="4417060"/>
            <a:ext cx="684530" cy="4292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/>
          <p:cNvCxnSpPr>
            <a:endCxn id="50" idx="2"/>
          </p:cNvCxnSpPr>
          <p:nvPr/>
        </p:nvCxnSpPr>
        <p:spPr>
          <a:xfrm>
            <a:off x="1466215" y="4417060"/>
            <a:ext cx="684530" cy="9321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/>
          <p:cNvCxnSpPr/>
          <p:nvPr/>
        </p:nvCxnSpPr>
        <p:spPr>
          <a:xfrm>
            <a:off x="1466215" y="4411980"/>
            <a:ext cx="684530" cy="14401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/>
          <p:cNvCxnSpPr>
            <a:stCxn id="61" idx="3"/>
            <a:endCxn id="48" idx="2"/>
          </p:cNvCxnSpPr>
          <p:nvPr/>
        </p:nvCxnSpPr>
        <p:spPr>
          <a:xfrm flipV="1">
            <a:off x="1466215" y="4343400"/>
            <a:ext cx="684530" cy="3479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/>
          <p:cNvCxnSpPr>
            <a:endCxn id="49" idx="2"/>
          </p:cNvCxnSpPr>
          <p:nvPr/>
        </p:nvCxnSpPr>
        <p:spPr>
          <a:xfrm>
            <a:off x="1466215" y="4691380"/>
            <a:ext cx="684530" cy="15494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/>
          <p:cNvCxnSpPr>
            <a:endCxn id="50" idx="2"/>
          </p:cNvCxnSpPr>
          <p:nvPr/>
        </p:nvCxnSpPr>
        <p:spPr>
          <a:xfrm>
            <a:off x="1466215" y="4691380"/>
            <a:ext cx="684530" cy="6578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endCxn id="51" idx="2"/>
          </p:cNvCxnSpPr>
          <p:nvPr/>
        </p:nvCxnSpPr>
        <p:spPr>
          <a:xfrm>
            <a:off x="1466215" y="4691380"/>
            <a:ext cx="684530" cy="11607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endCxn id="48" idx="2"/>
          </p:cNvCxnSpPr>
          <p:nvPr/>
        </p:nvCxnSpPr>
        <p:spPr>
          <a:xfrm flipV="1">
            <a:off x="1466215" y="4343400"/>
            <a:ext cx="684530" cy="63563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>
            <a:endCxn id="49" idx="2"/>
          </p:cNvCxnSpPr>
          <p:nvPr/>
        </p:nvCxnSpPr>
        <p:spPr>
          <a:xfrm flipV="1">
            <a:off x="1466215" y="4846320"/>
            <a:ext cx="684530" cy="13271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/>
          <p:nvPr/>
        </p:nvCxnSpPr>
        <p:spPr>
          <a:xfrm>
            <a:off x="1466215" y="4979035"/>
            <a:ext cx="684530" cy="37020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/>
          <p:cNvCxnSpPr>
            <a:endCxn id="51" idx="2"/>
          </p:cNvCxnSpPr>
          <p:nvPr/>
        </p:nvCxnSpPr>
        <p:spPr>
          <a:xfrm>
            <a:off x="1465580" y="4979035"/>
            <a:ext cx="685165" cy="87312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/>
          <p:cNvCxnSpPr>
            <a:stCxn id="65" idx="3"/>
          </p:cNvCxnSpPr>
          <p:nvPr/>
        </p:nvCxnSpPr>
        <p:spPr>
          <a:xfrm flipV="1">
            <a:off x="1466215" y="4343400"/>
            <a:ext cx="684530" cy="8966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>
            <a:endCxn id="49" idx="2"/>
          </p:cNvCxnSpPr>
          <p:nvPr/>
        </p:nvCxnSpPr>
        <p:spPr>
          <a:xfrm flipV="1">
            <a:off x="1466215" y="4846320"/>
            <a:ext cx="684530" cy="39370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>
            <a:stCxn id="65" idx="3"/>
            <a:endCxn id="50" idx="2"/>
          </p:cNvCxnSpPr>
          <p:nvPr/>
        </p:nvCxnSpPr>
        <p:spPr>
          <a:xfrm>
            <a:off x="1466215" y="5240020"/>
            <a:ext cx="684530" cy="1092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/>
          <p:cNvCxnSpPr>
            <a:endCxn id="51" idx="2"/>
          </p:cNvCxnSpPr>
          <p:nvPr/>
        </p:nvCxnSpPr>
        <p:spPr>
          <a:xfrm>
            <a:off x="1466215" y="5240020"/>
            <a:ext cx="684530" cy="61214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/>
          <p:cNvCxnSpPr>
            <a:stCxn id="67" idx="3"/>
            <a:endCxn id="48" idx="2"/>
          </p:cNvCxnSpPr>
          <p:nvPr/>
        </p:nvCxnSpPr>
        <p:spPr>
          <a:xfrm flipV="1">
            <a:off x="1466215" y="4343400"/>
            <a:ext cx="684530" cy="117094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直接连接符 178"/>
          <p:cNvCxnSpPr>
            <a:stCxn id="67" idx="3"/>
          </p:cNvCxnSpPr>
          <p:nvPr/>
        </p:nvCxnSpPr>
        <p:spPr>
          <a:xfrm flipV="1">
            <a:off x="1466215" y="4846320"/>
            <a:ext cx="684530" cy="6680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直接连接符 179"/>
          <p:cNvCxnSpPr>
            <a:stCxn id="67" idx="3"/>
          </p:cNvCxnSpPr>
          <p:nvPr/>
        </p:nvCxnSpPr>
        <p:spPr>
          <a:xfrm flipV="1">
            <a:off x="1466215" y="5349240"/>
            <a:ext cx="684530" cy="16510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直接连接符 180"/>
          <p:cNvCxnSpPr>
            <a:endCxn id="51" idx="2"/>
          </p:cNvCxnSpPr>
          <p:nvPr/>
        </p:nvCxnSpPr>
        <p:spPr>
          <a:xfrm>
            <a:off x="1466215" y="5514340"/>
            <a:ext cx="684530" cy="3378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>
            <a:stCxn id="69" idx="3"/>
            <a:endCxn id="48" idx="2"/>
          </p:cNvCxnSpPr>
          <p:nvPr/>
        </p:nvCxnSpPr>
        <p:spPr>
          <a:xfrm flipV="1">
            <a:off x="1466215" y="4343400"/>
            <a:ext cx="684530" cy="14452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/>
          <p:cNvCxnSpPr>
            <a:stCxn id="69" idx="3"/>
            <a:endCxn id="49" idx="2"/>
          </p:cNvCxnSpPr>
          <p:nvPr/>
        </p:nvCxnSpPr>
        <p:spPr>
          <a:xfrm flipV="1">
            <a:off x="1466215" y="4846320"/>
            <a:ext cx="684530" cy="94234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83"/>
          <p:cNvCxnSpPr>
            <a:stCxn id="69" idx="3"/>
            <a:endCxn id="50" idx="2"/>
          </p:cNvCxnSpPr>
          <p:nvPr/>
        </p:nvCxnSpPr>
        <p:spPr>
          <a:xfrm flipV="1">
            <a:off x="1466215" y="5349240"/>
            <a:ext cx="684530" cy="4394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直接连接符 184"/>
          <p:cNvCxnSpPr>
            <a:stCxn id="69" idx="3"/>
            <a:endCxn id="51" idx="2"/>
          </p:cNvCxnSpPr>
          <p:nvPr/>
        </p:nvCxnSpPr>
        <p:spPr>
          <a:xfrm>
            <a:off x="1466215" y="5788660"/>
            <a:ext cx="684530" cy="6350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直接连接符 185"/>
          <p:cNvCxnSpPr>
            <a:stCxn id="48" idx="6"/>
            <a:endCxn id="71" idx="1"/>
          </p:cNvCxnSpPr>
          <p:nvPr/>
        </p:nvCxnSpPr>
        <p:spPr>
          <a:xfrm>
            <a:off x="2416175" y="4343400"/>
            <a:ext cx="640715" cy="101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endCxn id="73" idx="1"/>
          </p:cNvCxnSpPr>
          <p:nvPr/>
        </p:nvCxnSpPr>
        <p:spPr>
          <a:xfrm>
            <a:off x="2416175" y="4343400"/>
            <a:ext cx="640715" cy="5130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48" idx="6"/>
          </p:cNvCxnSpPr>
          <p:nvPr/>
        </p:nvCxnSpPr>
        <p:spPr>
          <a:xfrm>
            <a:off x="2416175" y="4343400"/>
            <a:ext cx="640715" cy="100584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直接连接符 188"/>
          <p:cNvCxnSpPr>
            <a:stCxn id="48" idx="6"/>
            <a:endCxn id="77" idx="1"/>
          </p:cNvCxnSpPr>
          <p:nvPr/>
        </p:nvCxnSpPr>
        <p:spPr>
          <a:xfrm>
            <a:off x="2416175" y="4343400"/>
            <a:ext cx="640715" cy="15189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/>
          <p:cNvCxnSpPr>
            <a:stCxn id="49" idx="6"/>
          </p:cNvCxnSpPr>
          <p:nvPr/>
        </p:nvCxnSpPr>
        <p:spPr>
          <a:xfrm flipV="1">
            <a:off x="2416175" y="4353560"/>
            <a:ext cx="640715" cy="4927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/>
          <p:cNvCxnSpPr>
            <a:stCxn id="49" idx="6"/>
          </p:cNvCxnSpPr>
          <p:nvPr/>
        </p:nvCxnSpPr>
        <p:spPr>
          <a:xfrm>
            <a:off x="2416175" y="4846320"/>
            <a:ext cx="640715" cy="101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/>
          <p:cNvCxnSpPr>
            <a:stCxn id="49" idx="6"/>
          </p:cNvCxnSpPr>
          <p:nvPr/>
        </p:nvCxnSpPr>
        <p:spPr>
          <a:xfrm>
            <a:off x="2416175" y="4846320"/>
            <a:ext cx="640715" cy="5029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/>
          <p:cNvCxnSpPr/>
          <p:nvPr/>
        </p:nvCxnSpPr>
        <p:spPr>
          <a:xfrm>
            <a:off x="2416175" y="4846320"/>
            <a:ext cx="640715" cy="101600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/>
          <p:cNvCxnSpPr>
            <a:stCxn id="50" idx="6"/>
          </p:cNvCxnSpPr>
          <p:nvPr/>
        </p:nvCxnSpPr>
        <p:spPr>
          <a:xfrm flipV="1">
            <a:off x="2416175" y="4353560"/>
            <a:ext cx="640715" cy="9956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/>
          <p:cNvCxnSpPr>
            <a:stCxn id="50" idx="6"/>
          </p:cNvCxnSpPr>
          <p:nvPr/>
        </p:nvCxnSpPr>
        <p:spPr>
          <a:xfrm flipV="1">
            <a:off x="2416175" y="4856480"/>
            <a:ext cx="640715" cy="4927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/>
          <p:cNvCxnSpPr>
            <a:stCxn id="50" idx="6"/>
          </p:cNvCxnSpPr>
          <p:nvPr/>
        </p:nvCxnSpPr>
        <p:spPr>
          <a:xfrm>
            <a:off x="2416175" y="5349240"/>
            <a:ext cx="640715" cy="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/>
          <p:cNvCxnSpPr>
            <a:stCxn id="50" idx="6"/>
          </p:cNvCxnSpPr>
          <p:nvPr/>
        </p:nvCxnSpPr>
        <p:spPr>
          <a:xfrm>
            <a:off x="2416175" y="5349240"/>
            <a:ext cx="640715" cy="5130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接连接符 197"/>
          <p:cNvCxnSpPr>
            <a:stCxn id="51" idx="6"/>
          </p:cNvCxnSpPr>
          <p:nvPr/>
        </p:nvCxnSpPr>
        <p:spPr>
          <a:xfrm flipV="1">
            <a:off x="2416175" y="4353560"/>
            <a:ext cx="640715" cy="149860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直接连接符 198"/>
          <p:cNvCxnSpPr>
            <a:stCxn id="51" idx="6"/>
          </p:cNvCxnSpPr>
          <p:nvPr/>
        </p:nvCxnSpPr>
        <p:spPr>
          <a:xfrm flipV="1">
            <a:off x="2416175" y="4856480"/>
            <a:ext cx="640715" cy="99568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直接连接符 199"/>
          <p:cNvCxnSpPr>
            <a:stCxn id="51" idx="6"/>
          </p:cNvCxnSpPr>
          <p:nvPr/>
        </p:nvCxnSpPr>
        <p:spPr>
          <a:xfrm flipV="1">
            <a:off x="2416175" y="5349240"/>
            <a:ext cx="640715" cy="50292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直接连接符 200"/>
          <p:cNvCxnSpPr>
            <a:stCxn id="51" idx="6"/>
          </p:cNvCxnSpPr>
          <p:nvPr/>
        </p:nvCxnSpPr>
        <p:spPr>
          <a:xfrm>
            <a:off x="2416175" y="5852160"/>
            <a:ext cx="640715" cy="1016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>
            <a:stCxn id="72" idx="3"/>
            <a:endCxn id="53" idx="2"/>
          </p:cNvCxnSpPr>
          <p:nvPr/>
        </p:nvCxnSpPr>
        <p:spPr>
          <a:xfrm>
            <a:off x="3257550" y="4352925"/>
            <a:ext cx="892810" cy="3175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接连接符 202"/>
          <p:cNvCxnSpPr>
            <a:stCxn id="72" idx="3"/>
            <a:endCxn id="54" idx="2"/>
          </p:cNvCxnSpPr>
          <p:nvPr/>
        </p:nvCxnSpPr>
        <p:spPr>
          <a:xfrm>
            <a:off x="3257550" y="4352925"/>
            <a:ext cx="892810" cy="53467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>
            <a:endCxn id="55" idx="2"/>
          </p:cNvCxnSpPr>
          <p:nvPr/>
        </p:nvCxnSpPr>
        <p:spPr>
          <a:xfrm>
            <a:off x="3257550" y="4353560"/>
            <a:ext cx="892810" cy="103695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直接连接符 204"/>
          <p:cNvCxnSpPr>
            <a:stCxn id="72" idx="3"/>
            <a:endCxn id="56" idx="2"/>
          </p:cNvCxnSpPr>
          <p:nvPr/>
        </p:nvCxnSpPr>
        <p:spPr>
          <a:xfrm>
            <a:off x="3257550" y="4352925"/>
            <a:ext cx="892810" cy="154051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直接连接符 205"/>
          <p:cNvCxnSpPr>
            <a:stCxn id="74" idx="3"/>
            <a:endCxn id="53" idx="2"/>
          </p:cNvCxnSpPr>
          <p:nvPr/>
        </p:nvCxnSpPr>
        <p:spPr>
          <a:xfrm flipV="1">
            <a:off x="3257550" y="4384675"/>
            <a:ext cx="892810" cy="47117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直接连接符 206"/>
          <p:cNvCxnSpPr>
            <a:stCxn id="74" idx="3"/>
            <a:endCxn id="54" idx="2"/>
          </p:cNvCxnSpPr>
          <p:nvPr/>
        </p:nvCxnSpPr>
        <p:spPr>
          <a:xfrm>
            <a:off x="3257550" y="4855845"/>
            <a:ext cx="892810" cy="3175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>
            <a:off x="3257550" y="4855845"/>
            <a:ext cx="892810" cy="53467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/>
          <p:cNvCxnSpPr>
            <a:stCxn id="74" idx="3"/>
          </p:cNvCxnSpPr>
          <p:nvPr/>
        </p:nvCxnSpPr>
        <p:spPr>
          <a:xfrm>
            <a:off x="3257550" y="4855845"/>
            <a:ext cx="892810" cy="103759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>
            <a:stCxn id="76" idx="3"/>
          </p:cNvCxnSpPr>
          <p:nvPr/>
        </p:nvCxnSpPr>
        <p:spPr>
          <a:xfrm flipV="1">
            <a:off x="3257550" y="4384675"/>
            <a:ext cx="892810" cy="97409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>
            <a:stCxn id="76" idx="3"/>
            <a:endCxn id="54" idx="2"/>
          </p:cNvCxnSpPr>
          <p:nvPr/>
        </p:nvCxnSpPr>
        <p:spPr>
          <a:xfrm flipV="1">
            <a:off x="3257550" y="4887595"/>
            <a:ext cx="892810" cy="47117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>
            <a:stCxn id="76" idx="3"/>
            <a:endCxn id="55" idx="2"/>
          </p:cNvCxnSpPr>
          <p:nvPr/>
        </p:nvCxnSpPr>
        <p:spPr>
          <a:xfrm>
            <a:off x="3257550" y="5358765"/>
            <a:ext cx="892810" cy="3175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>
            <a:stCxn id="76" idx="3"/>
            <a:endCxn id="56" idx="2"/>
          </p:cNvCxnSpPr>
          <p:nvPr/>
        </p:nvCxnSpPr>
        <p:spPr>
          <a:xfrm>
            <a:off x="3257550" y="5358765"/>
            <a:ext cx="892810" cy="53467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>
            <a:stCxn id="78" idx="3"/>
            <a:endCxn id="53" idx="2"/>
          </p:cNvCxnSpPr>
          <p:nvPr/>
        </p:nvCxnSpPr>
        <p:spPr>
          <a:xfrm flipV="1">
            <a:off x="3257550" y="4384675"/>
            <a:ext cx="892810" cy="147701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>
            <a:stCxn id="78" idx="3"/>
            <a:endCxn id="54" idx="2"/>
          </p:cNvCxnSpPr>
          <p:nvPr/>
        </p:nvCxnSpPr>
        <p:spPr>
          <a:xfrm flipV="1">
            <a:off x="3257550" y="4887595"/>
            <a:ext cx="892810" cy="97409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/>
          <p:cNvCxnSpPr>
            <a:endCxn id="55" idx="2"/>
          </p:cNvCxnSpPr>
          <p:nvPr/>
        </p:nvCxnSpPr>
        <p:spPr>
          <a:xfrm flipV="1">
            <a:off x="3257550" y="5390515"/>
            <a:ext cx="892810" cy="471805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直接连接符 216"/>
          <p:cNvCxnSpPr>
            <a:stCxn id="78" idx="3"/>
            <a:endCxn id="56" idx="2"/>
          </p:cNvCxnSpPr>
          <p:nvPr/>
        </p:nvCxnSpPr>
        <p:spPr>
          <a:xfrm>
            <a:off x="3257550" y="5861685"/>
            <a:ext cx="892810" cy="31750"/>
          </a:xfrm>
          <a:prstGeom prst="line">
            <a:avLst/>
          </a:prstGeom>
          <a:ln w="3175" cmpd="sng">
            <a:solidFill>
              <a:schemeClr val="tx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任意多边形 218"/>
          <p:cNvSpPr/>
          <p:nvPr/>
        </p:nvSpPr>
        <p:spPr>
          <a:xfrm>
            <a:off x="1268095" y="4359910"/>
            <a:ext cx="193040" cy="104775"/>
          </a:xfrm>
          <a:custGeom>
            <a:avLst/>
            <a:gdLst>
              <a:gd name="connisteX0" fmla="*/ 0 w 193040"/>
              <a:gd name="connsiteY0" fmla="*/ 53433 h 104962"/>
              <a:gd name="connisteX1" fmla="*/ 26035 w 193040"/>
              <a:gd name="connsiteY1" fmla="*/ 1363 h 104962"/>
              <a:gd name="connisteX2" fmla="*/ 88265 w 193040"/>
              <a:gd name="connsiteY2" fmla="*/ 103598 h 104962"/>
              <a:gd name="connisteX3" fmla="*/ 193040 w 193040"/>
              <a:gd name="connsiteY3" fmla="*/ 51528 h 10496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93040" h="104962">
                <a:moveTo>
                  <a:pt x="0" y="53434"/>
                </a:moveTo>
                <a:cubicBezTo>
                  <a:pt x="3810" y="40734"/>
                  <a:pt x="8255" y="-8796"/>
                  <a:pt x="26035" y="1364"/>
                </a:cubicBezTo>
                <a:cubicBezTo>
                  <a:pt x="43815" y="11524"/>
                  <a:pt x="54610" y="93439"/>
                  <a:pt x="88265" y="103599"/>
                </a:cubicBezTo>
                <a:cubicBezTo>
                  <a:pt x="121920" y="113759"/>
                  <a:pt x="173355" y="64229"/>
                  <a:pt x="193040" y="51529"/>
                </a:cubicBezTo>
              </a:path>
            </a:pathLst>
          </a:custGeom>
          <a:noFill/>
          <a:ln w="9525"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20" name="任意多边形 219"/>
          <p:cNvSpPr/>
          <p:nvPr/>
        </p:nvSpPr>
        <p:spPr>
          <a:xfrm>
            <a:off x="1271905" y="4625340"/>
            <a:ext cx="186690" cy="115570"/>
          </a:xfrm>
          <a:custGeom>
            <a:avLst/>
            <a:gdLst>
              <a:gd name="connisteX0" fmla="*/ 0 w 193040"/>
              <a:gd name="connsiteY0" fmla="*/ 64393 h 66298"/>
              <a:gd name="connisteX1" fmla="*/ 50165 w 193040"/>
              <a:gd name="connsiteY1" fmla="*/ 2163 h 66298"/>
              <a:gd name="connisteX2" fmla="*/ 135890 w 193040"/>
              <a:gd name="connsiteY2" fmla="*/ 23753 h 66298"/>
              <a:gd name="connisteX3" fmla="*/ 193040 w 193040"/>
              <a:gd name="connsiteY3" fmla="*/ 66298 h 66298"/>
              <a:gd name="connisteX4" fmla="*/ 186055 w 193040"/>
              <a:gd name="connsiteY4" fmla="*/ 71378 h 662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93040" h="66298">
                <a:moveTo>
                  <a:pt x="0" y="64393"/>
                </a:moveTo>
                <a:cubicBezTo>
                  <a:pt x="8255" y="51693"/>
                  <a:pt x="22860" y="10418"/>
                  <a:pt x="50165" y="2163"/>
                </a:cubicBezTo>
                <a:cubicBezTo>
                  <a:pt x="77470" y="-6092"/>
                  <a:pt x="107315" y="11053"/>
                  <a:pt x="135890" y="23753"/>
                </a:cubicBezTo>
                <a:cubicBezTo>
                  <a:pt x="164465" y="36453"/>
                  <a:pt x="182880" y="56773"/>
                  <a:pt x="193040" y="66298"/>
                </a:cubicBezTo>
              </a:path>
            </a:pathLst>
          </a:custGeom>
          <a:noFill/>
          <a:ln w="9525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21" name="任意多边形 220"/>
          <p:cNvSpPr/>
          <p:nvPr/>
        </p:nvSpPr>
        <p:spPr>
          <a:xfrm>
            <a:off x="1265555" y="4906645"/>
            <a:ext cx="197485" cy="115570"/>
          </a:xfrm>
          <a:custGeom>
            <a:avLst/>
            <a:gdLst>
              <a:gd name="connisteX0" fmla="*/ 0 w 197485"/>
              <a:gd name="connsiteY0" fmla="*/ 54613 h 115664"/>
              <a:gd name="connisteX1" fmla="*/ 47625 w 197485"/>
              <a:gd name="connsiteY1" fmla="*/ 114303 h 115664"/>
              <a:gd name="connisteX2" fmla="*/ 85725 w 197485"/>
              <a:gd name="connsiteY2" fmla="*/ 3 h 115664"/>
              <a:gd name="connisteX3" fmla="*/ 138430 w 197485"/>
              <a:gd name="connsiteY3" fmla="*/ 109858 h 115664"/>
              <a:gd name="connisteX4" fmla="*/ 197485 w 197485"/>
              <a:gd name="connsiteY4" fmla="*/ 59693 h 1156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97485" h="115665">
                <a:moveTo>
                  <a:pt x="0" y="54613"/>
                </a:moveTo>
                <a:cubicBezTo>
                  <a:pt x="8890" y="68583"/>
                  <a:pt x="30480" y="125098"/>
                  <a:pt x="47625" y="114303"/>
                </a:cubicBezTo>
                <a:cubicBezTo>
                  <a:pt x="64770" y="103508"/>
                  <a:pt x="67310" y="638"/>
                  <a:pt x="85725" y="3"/>
                </a:cubicBezTo>
                <a:cubicBezTo>
                  <a:pt x="104140" y="-632"/>
                  <a:pt x="116205" y="97793"/>
                  <a:pt x="138430" y="109858"/>
                </a:cubicBezTo>
                <a:cubicBezTo>
                  <a:pt x="160655" y="121923"/>
                  <a:pt x="186690" y="71758"/>
                  <a:pt x="197485" y="59693"/>
                </a:cubicBezTo>
              </a:path>
            </a:pathLst>
          </a:custGeom>
          <a:noFill/>
          <a:ln w="9525">
            <a:solidFill>
              <a:schemeClr val="bg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22" name="任意多边形 221"/>
          <p:cNvSpPr/>
          <p:nvPr/>
        </p:nvSpPr>
        <p:spPr>
          <a:xfrm>
            <a:off x="1268095" y="5736590"/>
            <a:ext cx="197485" cy="115570"/>
          </a:xfrm>
          <a:custGeom>
            <a:avLst/>
            <a:gdLst>
              <a:gd name="connisteX0" fmla="*/ 0 w 197485"/>
              <a:gd name="connsiteY0" fmla="*/ 54613 h 115664"/>
              <a:gd name="connisteX1" fmla="*/ 47625 w 197485"/>
              <a:gd name="connsiteY1" fmla="*/ 114303 h 115664"/>
              <a:gd name="connisteX2" fmla="*/ 85725 w 197485"/>
              <a:gd name="connsiteY2" fmla="*/ 3 h 115664"/>
              <a:gd name="connisteX3" fmla="*/ 138430 w 197485"/>
              <a:gd name="connsiteY3" fmla="*/ 109858 h 115664"/>
              <a:gd name="connisteX4" fmla="*/ 197485 w 197485"/>
              <a:gd name="connsiteY4" fmla="*/ 59693 h 1156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97485" h="115665">
                <a:moveTo>
                  <a:pt x="0" y="54613"/>
                </a:moveTo>
                <a:cubicBezTo>
                  <a:pt x="8890" y="68583"/>
                  <a:pt x="30480" y="125098"/>
                  <a:pt x="47625" y="114303"/>
                </a:cubicBezTo>
                <a:cubicBezTo>
                  <a:pt x="64770" y="103508"/>
                  <a:pt x="67310" y="638"/>
                  <a:pt x="85725" y="3"/>
                </a:cubicBezTo>
                <a:cubicBezTo>
                  <a:pt x="104140" y="-632"/>
                  <a:pt x="116205" y="97793"/>
                  <a:pt x="138430" y="109858"/>
                </a:cubicBezTo>
                <a:cubicBezTo>
                  <a:pt x="160655" y="121923"/>
                  <a:pt x="186690" y="71758"/>
                  <a:pt x="197485" y="59693"/>
                </a:cubicBezTo>
              </a:path>
            </a:pathLst>
          </a:custGeom>
          <a:noFill/>
          <a:ln w="952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23" name="任意多边形 222"/>
          <p:cNvSpPr/>
          <p:nvPr/>
        </p:nvSpPr>
        <p:spPr>
          <a:xfrm>
            <a:off x="1273175" y="5189220"/>
            <a:ext cx="193040" cy="104775"/>
          </a:xfrm>
          <a:custGeom>
            <a:avLst/>
            <a:gdLst>
              <a:gd name="connisteX0" fmla="*/ 0 w 193040"/>
              <a:gd name="connsiteY0" fmla="*/ 53433 h 104962"/>
              <a:gd name="connisteX1" fmla="*/ 26035 w 193040"/>
              <a:gd name="connsiteY1" fmla="*/ 1363 h 104962"/>
              <a:gd name="connisteX2" fmla="*/ 88265 w 193040"/>
              <a:gd name="connsiteY2" fmla="*/ 103598 h 104962"/>
              <a:gd name="connisteX3" fmla="*/ 193040 w 193040"/>
              <a:gd name="connsiteY3" fmla="*/ 51528 h 10496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93040" h="104962">
                <a:moveTo>
                  <a:pt x="0" y="53434"/>
                </a:moveTo>
                <a:cubicBezTo>
                  <a:pt x="3810" y="40734"/>
                  <a:pt x="8255" y="-8796"/>
                  <a:pt x="26035" y="1364"/>
                </a:cubicBezTo>
                <a:cubicBezTo>
                  <a:pt x="43815" y="11524"/>
                  <a:pt x="54610" y="93439"/>
                  <a:pt x="88265" y="103599"/>
                </a:cubicBezTo>
                <a:cubicBezTo>
                  <a:pt x="121920" y="113759"/>
                  <a:pt x="173355" y="64229"/>
                  <a:pt x="193040" y="51529"/>
                </a:cubicBezTo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24" name="任意多边形 223"/>
          <p:cNvSpPr/>
          <p:nvPr/>
        </p:nvSpPr>
        <p:spPr>
          <a:xfrm>
            <a:off x="1268095" y="5445125"/>
            <a:ext cx="186690" cy="115570"/>
          </a:xfrm>
          <a:custGeom>
            <a:avLst/>
            <a:gdLst>
              <a:gd name="connisteX0" fmla="*/ 0 w 193040"/>
              <a:gd name="connsiteY0" fmla="*/ 64393 h 66298"/>
              <a:gd name="connisteX1" fmla="*/ 50165 w 193040"/>
              <a:gd name="connsiteY1" fmla="*/ 2163 h 66298"/>
              <a:gd name="connisteX2" fmla="*/ 135890 w 193040"/>
              <a:gd name="connsiteY2" fmla="*/ 23753 h 66298"/>
              <a:gd name="connisteX3" fmla="*/ 193040 w 193040"/>
              <a:gd name="connsiteY3" fmla="*/ 66298 h 66298"/>
              <a:gd name="connisteX4" fmla="*/ 186055 w 193040"/>
              <a:gd name="connsiteY4" fmla="*/ 71378 h 662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93040" h="66298">
                <a:moveTo>
                  <a:pt x="0" y="64393"/>
                </a:moveTo>
                <a:cubicBezTo>
                  <a:pt x="8255" y="51693"/>
                  <a:pt x="22860" y="10418"/>
                  <a:pt x="50165" y="2163"/>
                </a:cubicBezTo>
                <a:cubicBezTo>
                  <a:pt x="77470" y="-6092"/>
                  <a:pt x="107315" y="11053"/>
                  <a:pt x="135890" y="23753"/>
                </a:cubicBezTo>
                <a:cubicBezTo>
                  <a:pt x="164465" y="36453"/>
                  <a:pt x="182880" y="56773"/>
                  <a:pt x="193040" y="66298"/>
                </a:cubicBezTo>
              </a:path>
            </a:pathLst>
          </a:custGeom>
          <a:noFill/>
          <a:ln w="95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25" name="Rounded Rectangle 58"/>
          <p:cNvSpPr/>
          <p:nvPr/>
        </p:nvSpPr>
        <p:spPr>
          <a:xfrm>
            <a:off x="3056890" y="4288917"/>
            <a:ext cx="201168" cy="2011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ounded Rectangle 64"/>
          <p:cNvSpPr/>
          <p:nvPr/>
        </p:nvSpPr>
        <p:spPr>
          <a:xfrm>
            <a:off x="3056890" y="5257927"/>
            <a:ext cx="201168" cy="20116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ounded Rectangle 68"/>
          <p:cNvSpPr/>
          <p:nvPr/>
        </p:nvSpPr>
        <p:spPr>
          <a:xfrm>
            <a:off x="3056890" y="4755007"/>
            <a:ext cx="201168" cy="20116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ounded Rectangle 60"/>
          <p:cNvSpPr/>
          <p:nvPr/>
        </p:nvSpPr>
        <p:spPr>
          <a:xfrm>
            <a:off x="3056255" y="5760847"/>
            <a:ext cx="201168" cy="20116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任意多边形 230"/>
          <p:cNvSpPr/>
          <p:nvPr/>
        </p:nvSpPr>
        <p:spPr>
          <a:xfrm>
            <a:off x="3067685" y="5781675"/>
            <a:ext cx="175260" cy="143510"/>
          </a:xfrm>
          <a:custGeom>
            <a:avLst/>
            <a:gdLst>
              <a:gd name="connisteX0" fmla="*/ 0 w 193040"/>
              <a:gd name="connsiteY0" fmla="*/ 64393 h 66298"/>
              <a:gd name="connisteX1" fmla="*/ 50165 w 193040"/>
              <a:gd name="connsiteY1" fmla="*/ 2163 h 66298"/>
              <a:gd name="connisteX2" fmla="*/ 135890 w 193040"/>
              <a:gd name="connsiteY2" fmla="*/ 23753 h 66298"/>
              <a:gd name="connisteX3" fmla="*/ 193040 w 193040"/>
              <a:gd name="connsiteY3" fmla="*/ 66298 h 66298"/>
              <a:gd name="connisteX4" fmla="*/ 186055 w 193040"/>
              <a:gd name="connsiteY4" fmla="*/ 71378 h 66298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93040" h="66298">
                <a:moveTo>
                  <a:pt x="0" y="64393"/>
                </a:moveTo>
                <a:cubicBezTo>
                  <a:pt x="8255" y="51693"/>
                  <a:pt x="22860" y="10418"/>
                  <a:pt x="50165" y="2163"/>
                </a:cubicBezTo>
                <a:cubicBezTo>
                  <a:pt x="77470" y="-6092"/>
                  <a:pt x="107315" y="11053"/>
                  <a:pt x="135890" y="23753"/>
                </a:cubicBezTo>
                <a:cubicBezTo>
                  <a:pt x="164465" y="36453"/>
                  <a:pt x="182880" y="56773"/>
                  <a:pt x="193040" y="66298"/>
                </a:cubicBezTo>
              </a:path>
            </a:pathLst>
          </a:custGeom>
          <a:noFill/>
          <a:ln w="9525"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32" name="任意多边形 231"/>
          <p:cNvSpPr/>
          <p:nvPr/>
        </p:nvSpPr>
        <p:spPr>
          <a:xfrm>
            <a:off x="3056890" y="5293995"/>
            <a:ext cx="193040" cy="142875"/>
          </a:xfrm>
          <a:custGeom>
            <a:avLst/>
            <a:gdLst>
              <a:gd name="connisteX0" fmla="*/ 0 w 193040"/>
              <a:gd name="connsiteY0" fmla="*/ 53433 h 104962"/>
              <a:gd name="connisteX1" fmla="*/ 26035 w 193040"/>
              <a:gd name="connsiteY1" fmla="*/ 1363 h 104962"/>
              <a:gd name="connisteX2" fmla="*/ 88265 w 193040"/>
              <a:gd name="connsiteY2" fmla="*/ 103598 h 104962"/>
              <a:gd name="connisteX3" fmla="*/ 193040 w 193040"/>
              <a:gd name="connsiteY3" fmla="*/ 51528 h 10496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93040" h="104962">
                <a:moveTo>
                  <a:pt x="0" y="53434"/>
                </a:moveTo>
                <a:cubicBezTo>
                  <a:pt x="3810" y="40734"/>
                  <a:pt x="8255" y="-8796"/>
                  <a:pt x="26035" y="1364"/>
                </a:cubicBezTo>
                <a:cubicBezTo>
                  <a:pt x="43815" y="11524"/>
                  <a:pt x="54610" y="93439"/>
                  <a:pt x="88265" y="103599"/>
                </a:cubicBezTo>
                <a:cubicBezTo>
                  <a:pt x="121920" y="113759"/>
                  <a:pt x="173355" y="64229"/>
                  <a:pt x="193040" y="51529"/>
                </a:cubicBezTo>
              </a:path>
            </a:pathLst>
          </a:custGeom>
          <a:noFill/>
          <a:ln w="9525">
            <a:solidFill>
              <a:schemeClr val="accent4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33" name="任意多边形 232"/>
          <p:cNvSpPr/>
          <p:nvPr/>
        </p:nvSpPr>
        <p:spPr>
          <a:xfrm>
            <a:off x="3060700" y="4791710"/>
            <a:ext cx="197485" cy="133350"/>
          </a:xfrm>
          <a:custGeom>
            <a:avLst/>
            <a:gdLst>
              <a:gd name="connisteX0" fmla="*/ 0 w 197485"/>
              <a:gd name="connsiteY0" fmla="*/ 54613 h 115664"/>
              <a:gd name="connisteX1" fmla="*/ 47625 w 197485"/>
              <a:gd name="connsiteY1" fmla="*/ 114303 h 115664"/>
              <a:gd name="connisteX2" fmla="*/ 85725 w 197485"/>
              <a:gd name="connsiteY2" fmla="*/ 3 h 115664"/>
              <a:gd name="connisteX3" fmla="*/ 138430 w 197485"/>
              <a:gd name="connsiteY3" fmla="*/ 109858 h 115664"/>
              <a:gd name="connisteX4" fmla="*/ 197485 w 197485"/>
              <a:gd name="connsiteY4" fmla="*/ 59693 h 11566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197485" h="115665">
                <a:moveTo>
                  <a:pt x="0" y="54613"/>
                </a:moveTo>
                <a:cubicBezTo>
                  <a:pt x="8890" y="68583"/>
                  <a:pt x="30480" y="125098"/>
                  <a:pt x="47625" y="114303"/>
                </a:cubicBezTo>
                <a:cubicBezTo>
                  <a:pt x="64770" y="103508"/>
                  <a:pt x="67310" y="638"/>
                  <a:pt x="85725" y="3"/>
                </a:cubicBezTo>
                <a:cubicBezTo>
                  <a:pt x="104140" y="-632"/>
                  <a:pt x="116205" y="97793"/>
                  <a:pt x="138430" y="109858"/>
                </a:cubicBezTo>
                <a:cubicBezTo>
                  <a:pt x="160655" y="121923"/>
                  <a:pt x="186690" y="71758"/>
                  <a:pt x="197485" y="59693"/>
                </a:cubicBezTo>
              </a:path>
            </a:pathLst>
          </a:custGeom>
          <a:noFill/>
          <a:ln w="952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34" name="任意多边形 233"/>
          <p:cNvSpPr/>
          <p:nvPr/>
        </p:nvSpPr>
        <p:spPr>
          <a:xfrm>
            <a:off x="3065145" y="4316095"/>
            <a:ext cx="193040" cy="141605"/>
          </a:xfrm>
          <a:custGeom>
            <a:avLst/>
            <a:gdLst>
              <a:gd name="connisteX0" fmla="*/ 0 w 193040"/>
              <a:gd name="connsiteY0" fmla="*/ 53433 h 104962"/>
              <a:gd name="connisteX1" fmla="*/ 26035 w 193040"/>
              <a:gd name="connsiteY1" fmla="*/ 1363 h 104962"/>
              <a:gd name="connisteX2" fmla="*/ 88265 w 193040"/>
              <a:gd name="connsiteY2" fmla="*/ 103598 h 104962"/>
              <a:gd name="connisteX3" fmla="*/ 193040 w 193040"/>
              <a:gd name="connsiteY3" fmla="*/ 51528 h 10496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193040" h="104962">
                <a:moveTo>
                  <a:pt x="0" y="53434"/>
                </a:moveTo>
                <a:cubicBezTo>
                  <a:pt x="3810" y="40734"/>
                  <a:pt x="8255" y="-8796"/>
                  <a:pt x="26035" y="1364"/>
                </a:cubicBezTo>
                <a:cubicBezTo>
                  <a:pt x="43815" y="11524"/>
                  <a:pt x="54610" y="93439"/>
                  <a:pt x="88265" y="103599"/>
                </a:cubicBezTo>
                <a:cubicBezTo>
                  <a:pt x="121920" y="113759"/>
                  <a:pt x="173355" y="64229"/>
                  <a:pt x="193040" y="51529"/>
                </a:cubicBezTo>
              </a:path>
            </a:pathLst>
          </a:custGeom>
          <a:noFill/>
          <a:ln w="9525"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36" name="TextBox 46"/>
          <p:cNvSpPr txBox="1"/>
          <p:nvPr/>
        </p:nvSpPr>
        <p:spPr>
          <a:xfrm>
            <a:off x="429768" y="50845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chemeClr val="tx1"/>
                </a:solidFill>
                <a:latin typeface="Arial" panose="020B0604020202020204"/>
              </a:rPr>
              <a:t>⋮</a:t>
            </a:r>
            <a:endParaRPr sz="1600" b="0" i="0">
              <a:solidFill>
                <a:schemeClr val="tx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</Words>
  <Application>WPS 演示</Application>
  <PresentationFormat>On-screen Show (4:3)</PresentationFormat>
  <Paragraphs>94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</vt:lpstr>
      <vt:lpstr>Calibri</vt:lpstr>
      <vt:lpstr>Segoe UI</vt:lpstr>
      <vt:lpstr>MS PGothic</vt:lpstr>
      <vt:lpstr>微软雅黑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Plo_</cp:lastModifiedBy>
  <cp:revision>78</cp:revision>
  <dcterms:created xsi:type="dcterms:W3CDTF">2013-01-27T09:14:00Z</dcterms:created>
  <dcterms:modified xsi:type="dcterms:W3CDTF">2026-04-27T07:34:20Z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11F1DAA730AD4614B7198086324ECAC2_13</vt:lpwstr>
  </property>
  <property fmtid="{D5CDD505-2E9C-101B-9397-08002B2CF9AE}" pid="3" name="KSOProductBuildVer">
    <vt:lpwstr>2052-12.1.0.25865</vt:lpwstr>
  </property>
</Properties>
</file>